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3908" cy="15137892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18288" tIns="18288" rIns="18288" bIns="0" rtlCol="0" anchor="ctr"/>
          <a:lstStyle/>
          <a:p>
            <a:pPr indent="0" marL="0" algn="ctr">
              <a:spcAft>
                <a:spcPts val="400"/>
              </a:spcAft>
              <a:buNone/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t>BorrowNet – Smart Campus Resource Sharing Network</a:t>
            </a:r>
            <a:endParaRPr lang="en-US" sz="3350" dirty="0"/>
          </a:p>
          <a:p>
            <a:pPr algn="ctr">
              <a:defRPr sz="880">
                <a:solidFill>
                  <a:srgbClr val="F5F5FF"/>
                </a:solidFill>
                <a:latin typeface="Aptos"/>
              </a:defRPr>
            </a:pPr>
            <a:r>
              <a:t>Team ID: 30  |  Section: SEC 10  |  V Vaishanavi – 2520090117  |  Y Mohana Priya – 2520090176</a:t>
            </a:r>
          </a:p>
          <a:p>
            <a:pPr algn="ctr">
              <a:defRPr sz="880" b="1">
                <a:solidFill>
                  <a:srgbClr val="F5F5FF"/>
                </a:solidFill>
                <a:latin typeface="Aptos"/>
              </a:defRPr>
            </a:pPr>
            <a:r>
              <a:t>Guide: Dr Divya Priya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19" b="1">
                <a:solidFill>
                  <a:srgbClr val="202D69"/>
                </a:solidFill>
                <a:latin typeface="Aptos Display"/>
              </a:defRPr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 sz="819" b="0">
                <a:solidFill>
                  <a:srgbClr val="232D5A"/>
                </a:solidFill>
                <a:latin typeface="Aptos"/>
              </a:defRPr>
            </a:pPr>
            <a:r>
              <a:t>BorrowNet is a smart campus resource-sharing network for lending and borrowing short-term-use resources such as calculators, books, chargers, lab equipment and project components.</a:t>
            </a:r>
            <a:br/>
            <a:br/>
            <a:r>
              <a:t>It centralizes listing, availability, requests, reservations, returns and accountability.</a:t>
            </a:r>
            <a:br/>
            <a:br/>
            <a:r>
              <a:t>Benefit: affordable, transparent and trackable campus sharing.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19" b="1">
                <a:solidFill>
                  <a:srgbClr val="202D69"/>
                </a:solidFill>
                <a:latin typeface="Aptos Display"/>
              </a:defRPr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 sz="810" b="0">
                <a:solidFill>
                  <a:srgbClr val="232D5A"/>
                </a:solidFill>
                <a:latin typeface="Aptos"/>
              </a:defRPr>
            </a:pPr>
            <a:r>
              <a:t>Problem: Informal sharing through friends/groups makes availability, reservations, returns, condition and accountability difficult to track.</a:t>
            </a:r>
            <a:br/>
            <a:br/>
            <a:r>
              <a:t>Objectives:</a:t>
            </a:r>
            <a:br/>
            <a:r>
              <a:t>• Centralize resource listing and search</a:t>
            </a:r>
            <a:br/>
            <a:r>
              <a:t>• Manage requests, approval and reservations</a:t>
            </a:r>
            <a:br/>
            <a:r>
              <a:t>• Track returns, ratings and penalties</a:t>
            </a:r>
            <a:br/>
            <a:r>
              <a:t>• Maintain secure records and notifications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19" b="1">
                <a:solidFill>
                  <a:srgbClr val="202D69"/>
                </a:solidFill>
                <a:latin typeface="Aptos Display"/>
              </a:defRPr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569714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</a:tblGrid>
              <a:tr h="388620">
                <a:tc>
                  <a:txBody>
                    <a:bodyPr/>
                    <a:lstStyle/>
                    <a:p>
                      <a:pPr>
                        <a:defRPr sz="620" b="1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20" b="1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Existing System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20" b="1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BorrowNet Proposed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580" b="0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Resource discovery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0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Friends / groups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0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Centralized search &amp; listings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580" b="0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Availability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0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Manual checking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0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Availability tracking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580" b="0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Borrowing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0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Informal requests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0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Request + owner approval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580" b="0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Reservations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0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No structured flow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0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Conflict-aware reservations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580" b="0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Accountability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0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Limited tracking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80" b="0">
                          <a:solidFill>
                            <a:srgbClr val="1E2850"/>
                          </a:solidFill>
                          <a:latin typeface="Aptos"/>
                        </a:defRPr>
                      </a:pPr>
                      <a:r>
                        <a:t>Transactions + ratings + penalties</a:t>
                      </a: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19" b="1">
                <a:solidFill>
                  <a:srgbClr val="202D69"/>
                </a:solidFill>
                <a:latin typeface="Aptos Display"/>
              </a:defRPr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 sz="730" b="0">
                <a:solidFill>
                  <a:srgbClr val="232D5A"/>
                </a:solidFill>
                <a:latin typeface="Aptos"/>
              </a:defRPr>
            </a:pPr>
            <a:r>
              <a:t>Technical: React.js + Java/Spring Boot + REST APIs + MySQL are suitable for implementation.</a:t>
            </a:r>
            <a:br/>
            <a:br/>
            <a:r>
              <a:t>Economic: Open-source tools keep software cost low.</a:t>
            </a:r>
            <a:br/>
            <a:br/>
            <a:r>
              <a:t>Operational: Simple campus workflow—list → search → request → approve → borrow → return.</a:t>
            </a:r>
            <a:br/>
            <a:br/>
            <a:r>
              <a:t>Schedule: Frontend, backend, database and testing can progress in parallel.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19" b="1">
                <a:solidFill>
                  <a:srgbClr val="202D69"/>
                </a:solidFill>
                <a:latin typeface="Aptos Display"/>
              </a:defRPr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 sz="720" b="0">
                <a:solidFill>
                  <a:srgbClr val="232D5A"/>
                </a:solidFill>
                <a:latin typeface="Aptos"/>
              </a:defRPr>
            </a:pPr>
            <a:r>
              <a:t>Front-End: React.js</a:t>
            </a:r>
            <a:br/>
            <a:r>
              <a:t>Back-End: Java + Spring Boot + REST APIs</a:t>
            </a:r>
            <a:br/>
            <a:r>
              <a:t>Database: MySQL</a:t>
            </a:r>
            <a:br/>
            <a:r>
              <a:t>Security: JWT + role-based access</a:t>
            </a:r>
            <a:br/>
            <a:r>
              <a:t>Tools: Git/GitHub, Postman, VS Code, MySQL Workbench</a:t>
            </a:r>
            <a:br/>
            <a:r>
              <a:t>Core data: Users, Items, Categories, Requests, Reservations, Transactions, Ratings, Notifications &amp; Penalties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19" b="1">
                <a:solidFill>
                  <a:srgbClr val="202D69"/>
                </a:solidFill>
                <a:latin typeface="Aptos Display"/>
              </a:defRPr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19" b="1">
                <a:solidFill>
                  <a:srgbClr val="202D69"/>
                </a:solidFill>
                <a:latin typeface="Aptos Display"/>
              </a:defRPr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19" b="1">
                <a:solidFill>
                  <a:srgbClr val="202D69"/>
                </a:solidFill>
                <a:latin typeface="Aptos Display"/>
              </a:defRPr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/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19" b="1">
                <a:solidFill>
                  <a:srgbClr val="202D69"/>
                </a:solidFill>
                <a:latin typeface="Aptos Display"/>
              </a:defRPr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 sz="680" b="0">
                <a:solidFill>
                  <a:srgbClr val="232D5A"/>
                </a:solidFill>
                <a:latin typeface="Aptos"/>
              </a:defRPr>
            </a:pPr>
            <a:r>
              <a:t>Testing focus:</a:t>
            </a:r>
            <a:br/>
            <a:r>
              <a:t>• Registration/login validation</a:t>
            </a:r>
            <a:br/>
            <a:r>
              <a:t>• Item CRUD and search</a:t>
            </a:r>
            <a:br/>
            <a:r>
              <a:t>• Borrow request &amp; approval</a:t>
            </a:r>
            <a:br/>
            <a:r>
              <a:t>• Reservation conflict checks</a:t>
            </a:r>
            <a:br/>
            <a:r>
              <a:t>• Return and transaction tracking</a:t>
            </a:r>
            <a:br/>
            <a:r>
              <a:t>• Database/API validation</a:t>
            </a: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19" b="1">
                <a:solidFill>
                  <a:srgbClr val="202D69"/>
                </a:solidFill>
                <a:latin typeface="Aptos Display"/>
              </a:defRPr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 sz="700" b="0">
                <a:solidFill>
                  <a:srgbClr val="232D5A"/>
                </a:solidFill>
                <a:latin typeface="Aptos"/>
              </a:defRPr>
            </a:pPr>
            <a:r>
              <a:t>BorrowNet creates a structured, backend-driven campus sharing workflow.</a:t>
            </a:r>
            <a:br/>
            <a:br/>
            <a:r>
              <a:t>It connects students, resources, requests, reservations and transactions while improving transparency, security and accountability.</a:t>
            </a:r>
            <a:endParaRPr lang="en-US" sz="155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defRPr sz="1019" b="1">
                <a:solidFill>
                  <a:srgbClr val="202D69"/>
                </a:solidFill>
                <a:latin typeface="Aptos Display"/>
              </a:defRPr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  <a:defRPr sz="700" b="0">
                <a:solidFill>
                  <a:srgbClr val="232D5A"/>
                </a:solidFill>
                <a:latin typeface="Aptos"/>
              </a:defRPr>
            </a:pPr>
            <a:r>
              <a:t>• AI resource recommendations</a:t>
            </a:r>
            <a:br/>
            <a:r>
              <a:t>• Demand prediction</a:t>
            </a:r>
            <a:br/>
            <a:r>
              <a:t>• Mobile app + QR pickup/return</a:t>
            </a:r>
            <a:br/>
            <a:r>
              <a:t>• Smart reminders</a:t>
            </a:r>
            <a:br/>
            <a:r>
              <a:t>• Usage analytics</a:t>
            </a:r>
            <a:endParaRPr lang="en-US" sz="155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/>
          <a:lstStyle/>
          <a:p>
            <a:pPr indent="0" marL="0">
              <a:buNone/>
              <a:defRPr sz="570" b="0">
                <a:solidFill>
                  <a:srgbClr val="232D5A"/>
                </a:solidFill>
                <a:latin typeface="Aptos"/>
              </a:defRPr>
            </a:pPr>
            <a:pPr indent="0" marL="0">
              <a:buNone/>
            </a:pPr>
            <a:r>
              <a:t>References: Spring Boot Documentation  |  React.js Documentation  |  MySQL Documentation  |  REST API &amp; JWT references  |  BorrowNet ER model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 lIns="27432" rIns="27432" tIns="18288" bIns="18288"/>
          <a:lstStyle/>
          <a:p>
            <a:pPr algn="ctr" indent="0" marL="0">
              <a:buNone/>
              <a:defRPr sz="620" b="1">
                <a:solidFill>
                  <a:srgbClr val="232D64"/>
                </a:solidFill>
                <a:latin typeface="Aptos"/>
              </a:defRPr>
            </a:pPr>
            <a:r>
              <a:t>QR</a:t>
            </a:r>
            <a:br/>
            <a:r>
              <a:t>GitHub</a:t>
            </a:r>
            <a:endParaRPr lang="en-US" sz="900" dirty="0"/>
          </a:p>
        </p:txBody>
      </p:sp>
      <p:pic>
        <p:nvPicPr>
          <p:cNvPr id="47" name="Picture 46" descr="borrownet_klh_logo_clea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"/>
            <a:ext cx="1280160" cy="1280160"/>
          </a:xfrm>
          <a:prstGeom prst="rect">
            <a:avLst/>
          </a:prstGeom>
        </p:spPr>
      </p:pic>
      <p:pic>
        <p:nvPicPr>
          <p:cNvPr id="48" name="Picture 47" descr="borrownet_architecture_poster_cro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274" y="4983480"/>
            <a:ext cx="4569714" cy="2148840"/>
          </a:xfrm>
          <a:prstGeom prst="rect">
            <a:avLst/>
          </a:prstGeom>
        </p:spPr>
      </p:pic>
      <p:pic>
        <p:nvPicPr>
          <p:cNvPr id="49" name="Picture 48" descr="Screenshot 2026-10-02 1840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1274" y="7863840"/>
            <a:ext cx="4569714" cy="1920240"/>
          </a:xfrm>
          <a:prstGeom prst="rect">
            <a:avLst/>
          </a:prstGeom>
        </p:spPr>
      </p:pic>
      <p:pic>
        <p:nvPicPr>
          <p:cNvPr id="50" name="Picture 49" descr="borrownet_ui_hom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1274" y="10515600"/>
            <a:ext cx="2216277" cy="1783080"/>
          </a:xfrm>
          <a:prstGeom prst="rect">
            <a:avLst/>
          </a:prstGeom>
        </p:spPr>
      </p:pic>
      <p:pic>
        <p:nvPicPr>
          <p:cNvPr id="51" name="Picture 50" descr="borrownet_ui_dashboa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4711" y="10515600"/>
            <a:ext cx="2216277" cy="1783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